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0" d="100"/>
          <a:sy n="80" d="100"/>
        </p:scale>
        <p:origin x="-1445" y="-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905000"/>
            <a:ext cx="7543800" cy="2593975"/>
          </a:xfrm>
        </p:spPr>
        <p:txBody>
          <a:bodyPr anchor="b"/>
          <a:lstStyle>
            <a:lvl1pPr>
              <a:defRPr sz="6600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4572000"/>
            <a:ext cx="6461760" cy="10668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B74B3-DAF3-40B6-AF70-F456CBF23813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7B641-C891-444F-9B1E-02A3A7DC8CA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B74B3-DAF3-40B6-AF70-F456CBF23813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7B641-C891-444F-9B1E-02A3A7DC8CA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5486400"/>
            <a:ext cx="7659687" cy="1168400"/>
          </a:xfrm>
        </p:spPr>
        <p:txBody>
          <a:bodyPr anchor="t"/>
          <a:lstStyle>
            <a:lvl1pPr algn="l">
              <a:defRPr sz="36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852863"/>
            <a:ext cx="6135687" cy="163353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B74B3-DAF3-40B6-AF70-F456CBF23813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7B641-C891-444F-9B1E-02A3A7DC8CA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96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B74B3-DAF3-40B6-AF70-F456CBF23813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7B641-C891-444F-9B1E-02A3A7DC8CA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196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196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B74B3-DAF3-40B6-AF70-F456CBF23813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7B641-C891-444F-9B1E-02A3A7DC8CA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B74B3-DAF3-40B6-AF70-F456CBF23813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7B641-C891-444F-9B1E-02A3A7DC8CA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B74B3-DAF3-40B6-AF70-F456CBF23813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7B641-C891-444F-9B1E-02A3A7DC8CA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1" y="5495544"/>
            <a:ext cx="7772400" cy="594360"/>
          </a:xfrm>
        </p:spPr>
        <p:txBody>
          <a:bodyPr anchor="b"/>
          <a:lstStyle>
            <a:lvl1pPr algn="ctr">
              <a:defRPr sz="22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799" y="6096000"/>
            <a:ext cx="7772401" cy="6096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B74B3-DAF3-40B6-AF70-F456CBF23813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7B641-C891-444F-9B1E-02A3A7DC8CA5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04800" y="381000"/>
            <a:ext cx="7772400" cy="494284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5495278"/>
            <a:ext cx="7772400" cy="594626"/>
          </a:xfrm>
        </p:spPr>
        <p:txBody>
          <a:bodyPr anchor="b"/>
          <a:lstStyle>
            <a:lvl1pPr algn="ctr">
              <a:defRPr sz="2200" b="1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84582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1752" y="6096000"/>
            <a:ext cx="7772400" cy="612648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B74B3-DAF3-40B6-AF70-F456CBF23813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207B641-C891-444F-9B1E-02A3A7DC8CA5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B74B3-DAF3-40B6-AF70-F456CBF23813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7B641-C891-444F-9B1E-02A3A7DC8CA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1752600" cy="58515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B74B3-DAF3-40B6-AF70-F456CBF23813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07B641-C891-444F-9B1E-02A3A7DC8CA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620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620000" cy="480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8458200" y="0"/>
            <a:ext cx="6858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8458200" y="5486400"/>
            <a:ext cx="68580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31788" y="5648960"/>
            <a:ext cx="54864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lvl1pPr algn="ctr">
              <a:defRPr sz="1800">
                <a:solidFill>
                  <a:srgbClr val="FFFFFF"/>
                </a:solidFill>
              </a:defRPr>
            </a:lvl1pPr>
          </a:lstStyle>
          <a:p>
            <a:fld id="{D207B641-C891-444F-9B1E-02A3A7DC8CA5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7586910" y="4048760"/>
            <a:ext cx="2367281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7551351" y="1645920"/>
            <a:ext cx="2438399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/>
                </a:solidFill>
              </a:defRPr>
            </a:lvl1pPr>
          </a:lstStyle>
          <a:p>
            <a:fld id="{0D8B74B3-DAF3-40B6-AF70-F456CBF23813}" type="datetimeFigureOut">
              <a:rPr lang="en-US" smtClean="0"/>
              <a:t>4/8/2026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600" kern="1200" cap="none" spc="-100" baseline="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3429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2860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2860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defTabSz="914400" rtl="0" eaLnBrk="1" latinLnBrk="0" hangingPunct="1">
        <a:spcBef>
          <a:spcPct val="20000"/>
        </a:spcBef>
        <a:buClr>
          <a:schemeClr val="accent5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914400"/>
            <a:ext cx="7543800" cy="2593975"/>
          </a:xfrm>
        </p:spPr>
        <p:txBody>
          <a:bodyPr/>
          <a:lstStyle/>
          <a:p>
            <a:pPr algn="ctr"/>
            <a:r>
              <a:rPr lang="en-US" sz="3200" dirty="0" err="1"/>
              <a:t>Informacioni</a:t>
            </a:r>
            <a:r>
              <a:rPr lang="en-US" sz="3200" dirty="0"/>
              <a:t> </a:t>
            </a:r>
            <a:r>
              <a:rPr lang="en-US" sz="3200" dirty="0" err="1"/>
              <a:t>sistem</a:t>
            </a:r>
            <a:r>
              <a:rPr lang="en-US" sz="3200" dirty="0"/>
              <a:t> </a:t>
            </a:r>
            <a:r>
              <a:rPr lang="en-US" sz="3200" dirty="0" err="1"/>
              <a:t>za</a:t>
            </a:r>
            <a:r>
              <a:rPr lang="en-US" sz="3200" dirty="0"/>
              <a:t> </a:t>
            </a:r>
            <a:r>
              <a:rPr lang="en-US" sz="3200" dirty="0" err="1"/>
              <a:t>upravljanje</a:t>
            </a:r>
            <a:r>
              <a:rPr lang="en-US" sz="3200" dirty="0"/>
              <a:t> </a:t>
            </a:r>
            <a:r>
              <a:rPr lang="en-US" sz="3200" dirty="0" err="1"/>
              <a:t>zalihama</a:t>
            </a:r>
            <a:r>
              <a:rPr lang="en-US" sz="3200" dirty="0"/>
              <a:t> </a:t>
            </a:r>
            <a:r>
              <a:rPr lang="en-US" sz="3200" dirty="0" err="1"/>
              <a:t>proizvoda</a:t>
            </a:r>
            <a:r>
              <a:rPr lang="en-US" sz="3200" dirty="0"/>
              <a:t> u </a:t>
            </a:r>
            <a:r>
              <a:rPr lang="en-US" sz="3200" dirty="0" err="1"/>
              <a:t>sportskoj</a:t>
            </a:r>
            <a:r>
              <a:rPr lang="en-US" sz="3200" dirty="0"/>
              <a:t> </a:t>
            </a:r>
            <a:r>
              <a:rPr lang="en-US" sz="3200" dirty="0" err="1"/>
              <a:t>radnji</a:t>
            </a:r>
            <a:endParaRPr lang="en-US" sz="32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4572000"/>
            <a:ext cx="6705600" cy="1371600"/>
          </a:xfrm>
        </p:spPr>
        <p:txBody>
          <a:bodyPr>
            <a:normAutofit fontScale="70000" lnSpcReduction="20000"/>
          </a:bodyPr>
          <a:lstStyle/>
          <a:p>
            <a:endParaRPr lang="en-US" sz="1600" dirty="0">
              <a:solidFill>
                <a:schemeClr val="tx1"/>
              </a:solidFill>
            </a:endParaRPr>
          </a:p>
          <a:p>
            <a:endParaRPr lang="en-US" sz="1600" dirty="0">
              <a:solidFill>
                <a:schemeClr val="tx1"/>
              </a:solidFill>
            </a:endParaRPr>
          </a:p>
          <a:p>
            <a:endParaRPr lang="en-US" sz="1600" dirty="0">
              <a:solidFill>
                <a:schemeClr val="tx1"/>
              </a:solidFill>
            </a:endParaRPr>
          </a:p>
          <a:p>
            <a:endParaRPr lang="en-US" sz="1600" dirty="0">
              <a:solidFill>
                <a:schemeClr val="tx1"/>
              </a:solidFill>
            </a:endParaRPr>
          </a:p>
          <a:p>
            <a:r>
              <a:rPr lang="en-US" sz="2600" dirty="0" err="1">
                <a:solidFill>
                  <a:schemeClr val="tx1"/>
                </a:solidFill>
              </a:rPr>
              <a:t>Predmet</a:t>
            </a:r>
            <a:r>
              <a:rPr lang="en-US" sz="2600" dirty="0">
                <a:solidFill>
                  <a:schemeClr val="tx1"/>
                </a:solidFill>
              </a:rPr>
              <a:t>: </a:t>
            </a:r>
            <a:r>
              <a:rPr lang="en-US" sz="2600" dirty="0" err="1">
                <a:solidFill>
                  <a:schemeClr val="tx1"/>
                </a:solidFill>
              </a:rPr>
              <a:t>Poznavanje</a:t>
            </a:r>
            <a:r>
              <a:rPr lang="en-US" sz="2600" dirty="0">
                <a:solidFill>
                  <a:schemeClr val="tx1"/>
                </a:solidFill>
              </a:rPr>
              <a:t> </a:t>
            </a:r>
            <a:r>
              <a:rPr lang="en-US" sz="2600" dirty="0" err="1">
                <a:solidFill>
                  <a:schemeClr val="tx1"/>
                </a:solidFill>
              </a:rPr>
              <a:t>poslovnih</a:t>
            </a:r>
            <a:r>
              <a:rPr lang="en-US" sz="2600" dirty="0">
                <a:solidFill>
                  <a:schemeClr val="tx1"/>
                </a:solidFill>
              </a:rPr>
              <a:t> </a:t>
            </a:r>
            <a:r>
              <a:rPr lang="en-US" sz="2600" dirty="0" err="1">
                <a:solidFill>
                  <a:schemeClr val="tx1"/>
                </a:solidFill>
              </a:rPr>
              <a:t>procesa</a:t>
            </a:r>
            <a:endParaRPr lang="en-US" sz="2600" dirty="0">
              <a:solidFill>
                <a:schemeClr val="tx1"/>
              </a:solidFill>
            </a:endParaRPr>
          </a:p>
          <a:p>
            <a:r>
              <a:rPr lang="en-US" sz="2600" dirty="0">
                <a:solidFill>
                  <a:schemeClr val="tx1"/>
                </a:solidFill>
              </a:rPr>
              <a:t>Student:  Sava Simi</a:t>
            </a:r>
            <a:r>
              <a:rPr lang="sr-Latn-RS" sz="2600" dirty="0">
                <a:solidFill>
                  <a:schemeClr val="tx1"/>
                </a:solidFill>
              </a:rPr>
              <a:t>ć 012/2022</a:t>
            </a:r>
            <a:endParaRPr lang="en-US" sz="2600" dirty="0">
              <a:solidFill>
                <a:schemeClr val="tx1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30082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l-PL" dirty="0"/>
              <a:t>Uloga IS za zalihe u sportskoj maloprodaji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81200"/>
            <a:ext cx="7620000" cy="4800600"/>
          </a:xfrm>
        </p:spPr>
        <p:txBody>
          <a:bodyPr/>
          <a:lstStyle/>
          <a:p>
            <a:r>
              <a:rPr lang="en-US" dirty="0" err="1"/>
              <a:t>Specifičnost</a:t>
            </a:r>
            <a:r>
              <a:rPr lang="en-US" dirty="0"/>
              <a:t> </a:t>
            </a:r>
            <a:r>
              <a:rPr lang="en-US" dirty="0" err="1"/>
              <a:t>sportske</a:t>
            </a:r>
            <a:r>
              <a:rPr lang="en-US" dirty="0"/>
              <a:t> </a:t>
            </a:r>
            <a:r>
              <a:rPr lang="en-US" dirty="0" err="1"/>
              <a:t>opreme</a:t>
            </a:r>
            <a:r>
              <a:rPr lang="en-US" dirty="0"/>
              <a:t> </a:t>
            </a:r>
            <a:r>
              <a:rPr lang="en-US" dirty="0" err="1"/>
              <a:t>ogleda</a:t>
            </a:r>
            <a:r>
              <a:rPr lang="en-US" dirty="0"/>
              <a:t> se u </a:t>
            </a:r>
            <a:r>
              <a:rPr lang="en-US" dirty="0" err="1"/>
              <a:t>velikom</a:t>
            </a:r>
            <a:r>
              <a:rPr lang="en-US" dirty="0"/>
              <a:t> </a:t>
            </a:r>
            <a:r>
              <a:rPr lang="en-US" dirty="0" err="1"/>
              <a:t>broju</a:t>
            </a:r>
            <a:r>
              <a:rPr lang="en-US" dirty="0"/>
              <a:t> SKU-ova (</a:t>
            </a:r>
            <a:r>
              <a:rPr lang="en-US" dirty="0" err="1"/>
              <a:t>različiti</a:t>
            </a:r>
            <a:r>
              <a:rPr lang="en-US" dirty="0"/>
              <a:t> </a:t>
            </a:r>
            <a:r>
              <a:rPr lang="en-US" dirty="0" err="1"/>
              <a:t>modeli</a:t>
            </a:r>
            <a:r>
              <a:rPr lang="en-US" dirty="0"/>
              <a:t>, </a:t>
            </a:r>
            <a:r>
              <a:rPr lang="en-US" dirty="0" err="1"/>
              <a:t>boje</a:t>
            </a:r>
            <a:r>
              <a:rPr lang="en-US" dirty="0"/>
              <a:t> i, </a:t>
            </a:r>
            <a:r>
              <a:rPr lang="en-US" dirty="0" err="1"/>
              <a:t>najvažnije</a:t>
            </a:r>
            <a:r>
              <a:rPr lang="en-US" dirty="0"/>
              <a:t>, </a:t>
            </a:r>
            <a:r>
              <a:rPr lang="en-US" b="1" dirty="0" err="1"/>
              <a:t>veličine</a:t>
            </a:r>
            <a:r>
              <a:rPr lang="en-US" dirty="0"/>
              <a:t>).</a:t>
            </a:r>
          </a:p>
          <a:p>
            <a:r>
              <a:rPr lang="en-US" b="1" dirty="0" err="1"/>
              <a:t>Glavni</a:t>
            </a:r>
            <a:r>
              <a:rPr lang="en-US" b="1" dirty="0"/>
              <a:t> </a:t>
            </a:r>
            <a:r>
              <a:rPr lang="en-US" b="1" dirty="0" err="1"/>
              <a:t>ciljevi</a:t>
            </a:r>
            <a:r>
              <a:rPr lang="en-US" b="1" dirty="0"/>
              <a:t> </a:t>
            </a:r>
            <a:r>
              <a:rPr lang="en-US" b="1" dirty="0" err="1"/>
              <a:t>implementacije</a:t>
            </a:r>
            <a:r>
              <a:rPr lang="en-US" b="1" dirty="0"/>
              <a:t> </a:t>
            </a:r>
            <a:r>
              <a:rPr lang="en-US" b="1" dirty="0" err="1"/>
              <a:t>sistema</a:t>
            </a:r>
            <a:r>
              <a:rPr lang="en-US" b="1" dirty="0"/>
              <a:t>:</a:t>
            </a:r>
            <a:endParaRPr lang="en-US" dirty="0"/>
          </a:p>
          <a:p>
            <a:r>
              <a:rPr lang="en-US" dirty="0" err="1"/>
              <a:t>Optimizacija</a:t>
            </a:r>
            <a:r>
              <a:rPr lang="en-US" dirty="0"/>
              <a:t> </a:t>
            </a:r>
            <a:r>
              <a:rPr lang="en-US" dirty="0" err="1"/>
              <a:t>magacinskog</a:t>
            </a:r>
            <a:r>
              <a:rPr lang="en-US" dirty="0"/>
              <a:t> i </a:t>
            </a:r>
            <a:r>
              <a:rPr lang="en-US" dirty="0" err="1"/>
              <a:t>prodajnog</a:t>
            </a:r>
            <a:r>
              <a:rPr lang="en-US" dirty="0"/>
              <a:t> </a:t>
            </a:r>
            <a:r>
              <a:rPr lang="en-US" dirty="0" err="1"/>
              <a:t>prostora</a:t>
            </a:r>
            <a:r>
              <a:rPr lang="en-US" dirty="0"/>
              <a:t>.</a:t>
            </a:r>
          </a:p>
          <a:p>
            <a:r>
              <a:rPr lang="en-US" dirty="0" err="1"/>
              <a:t>Eliminacija</a:t>
            </a:r>
            <a:r>
              <a:rPr lang="en-US" dirty="0"/>
              <a:t> </a:t>
            </a:r>
            <a:r>
              <a:rPr lang="en-US" dirty="0" err="1"/>
              <a:t>situacija</a:t>
            </a:r>
            <a:r>
              <a:rPr lang="en-US" dirty="0"/>
              <a:t> "</a:t>
            </a:r>
            <a:r>
              <a:rPr lang="en-US" dirty="0" err="1"/>
              <a:t>nemamo</a:t>
            </a:r>
            <a:r>
              <a:rPr lang="en-US" dirty="0"/>
              <a:t> </a:t>
            </a:r>
            <a:r>
              <a:rPr lang="en-US" dirty="0" err="1"/>
              <a:t>vaš</a:t>
            </a:r>
            <a:r>
              <a:rPr lang="en-US" dirty="0"/>
              <a:t> </a:t>
            </a:r>
            <a:r>
              <a:rPr lang="en-US" dirty="0" err="1"/>
              <a:t>broj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stanju</a:t>
            </a:r>
            <a:r>
              <a:rPr lang="en-US" dirty="0"/>
              <a:t>".</a:t>
            </a:r>
          </a:p>
          <a:p>
            <a:r>
              <a:rPr lang="en-US" dirty="0" err="1"/>
              <a:t>Precizno</a:t>
            </a:r>
            <a:r>
              <a:rPr lang="en-US" dirty="0"/>
              <a:t> </a:t>
            </a:r>
            <a:r>
              <a:rPr lang="en-US" dirty="0" err="1"/>
              <a:t>praćenje</a:t>
            </a:r>
            <a:r>
              <a:rPr lang="en-US" dirty="0"/>
              <a:t> </a:t>
            </a:r>
            <a:r>
              <a:rPr lang="en-US" dirty="0" err="1"/>
              <a:t>brze</a:t>
            </a:r>
            <a:r>
              <a:rPr lang="en-US" dirty="0"/>
              <a:t> i spore robe (</a:t>
            </a:r>
            <a:r>
              <a:rPr lang="en-US" dirty="0" err="1"/>
              <a:t>npr</a:t>
            </a:r>
            <a:r>
              <a:rPr lang="en-US" dirty="0"/>
              <a:t>. </a:t>
            </a:r>
            <a:r>
              <a:rPr lang="en-US" dirty="0" err="1"/>
              <a:t>sezonska</a:t>
            </a:r>
            <a:r>
              <a:rPr lang="en-US" dirty="0"/>
              <a:t> </a:t>
            </a:r>
            <a:r>
              <a:rPr lang="en-US" dirty="0" err="1"/>
              <a:t>zimska</a:t>
            </a:r>
            <a:r>
              <a:rPr lang="en-US" dirty="0"/>
              <a:t> </a:t>
            </a:r>
            <a:r>
              <a:rPr lang="en-US" dirty="0" err="1"/>
              <a:t>oprema</a:t>
            </a:r>
            <a:r>
              <a:rPr lang="en-US" dirty="0"/>
              <a:t> </a:t>
            </a:r>
            <a:r>
              <a:rPr lang="en-US" dirty="0" err="1"/>
              <a:t>naspram</a:t>
            </a:r>
            <a:r>
              <a:rPr lang="en-US" dirty="0"/>
              <a:t> </a:t>
            </a:r>
            <a:r>
              <a:rPr lang="en-US" dirty="0" err="1"/>
              <a:t>letnje</a:t>
            </a:r>
            <a:r>
              <a:rPr lang="en-US" dirty="0"/>
              <a:t>).</a:t>
            </a:r>
          </a:p>
          <a:p>
            <a:r>
              <a:rPr lang="en-US" dirty="0" err="1"/>
              <a:t>Automatizacija</a:t>
            </a:r>
            <a:r>
              <a:rPr lang="en-US" dirty="0"/>
              <a:t> </a:t>
            </a:r>
            <a:r>
              <a:rPr lang="en-US" dirty="0" err="1"/>
              <a:t>inventarisanja</a:t>
            </a:r>
            <a:r>
              <a:rPr lang="en-US" dirty="0"/>
              <a:t> i </a:t>
            </a:r>
            <a:r>
              <a:rPr lang="en-US" dirty="0" err="1"/>
              <a:t>upozorenja</a:t>
            </a:r>
            <a:r>
              <a:rPr lang="en-US" dirty="0"/>
              <a:t> o </a:t>
            </a:r>
            <a:r>
              <a:rPr lang="en-US" dirty="0" err="1"/>
              <a:t>minimalnim</a:t>
            </a:r>
            <a:r>
              <a:rPr lang="en-US" dirty="0"/>
              <a:t> </a:t>
            </a:r>
            <a:r>
              <a:rPr lang="en-US" dirty="0" err="1"/>
              <a:t>zalihama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7158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/>
              <a:t>Hijerarhija</a:t>
            </a:r>
            <a:r>
              <a:rPr lang="en-US" dirty="0"/>
              <a:t> </a:t>
            </a:r>
            <a:r>
              <a:rPr lang="en-US" dirty="0" err="1"/>
              <a:t>procesa</a:t>
            </a:r>
            <a:r>
              <a:rPr lang="en-US" dirty="0"/>
              <a:t> </a:t>
            </a:r>
            <a:r>
              <a:rPr lang="en-US" dirty="0" err="1"/>
              <a:t>upravljanja</a:t>
            </a:r>
            <a:r>
              <a:rPr lang="en-US" dirty="0"/>
              <a:t> </a:t>
            </a:r>
            <a:r>
              <a:rPr lang="en-US" dirty="0" err="1"/>
              <a:t>zalihama</a:t>
            </a:r>
            <a:r>
              <a:rPr lang="en-US" dirty="0"/>
              <a:t> (SSADT)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828800"/>
            <a:ext cx="7620000" cy="4800600"/>
          </a:xfrm>
        </p:spPr>
        <p:txBody>
          <a:bodyPr/>
          <a:lstStyle/>
          <a:p>
            <a:r>
              <a:rPr lang="en-US" dirty="0" err="1"/>
              <a:t>Proces</a:t>
            </a:r>
            <a:r>
              <a:rPr lang="en-US" dirty="0"/>
              <a:t> </a:t>
            </a:r>
            <a:r>
              <a:rPr lang="en-US" dirty="0" err="1"/>
              <a:t>upravljanja</a:t>
            </a:r>
            <a:r>
              <a:rPr lang="en-US" dirty="0"/>
              <a:t> </a:t>
            </a:r>
            <a:r>
              <a:rPr lang="en-US" dirty="0" err="1"/>
              <a:t>zalihama</a:t>
            </a:r>
            <a:r>
              <a:rPr lang="en-US" dirty="0"/>
              <a:t> </a:t>
            </a:r>
            <a:r>
              <a:rPr lang="en-US" dirty="0" err="1"/>
              <a:t>dekomponovan</a:t>
            </a:r>
            <a:r>
              <a:rPr lang="en-US" dirty="0"/>
              <a:t> je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sledeće</a:t>
            </a:r>
            <a:r>
              <a:rPr lang="en-US" dirty="0"/>
              <a:t> pod-</a:t>
            </a:r>
            <a:r>
              <a:rPr lang="en-US" dirty="0" err="1"/>
              <a:t>procese</a:t>
            </a:r>
            <a:r>
              <a:rPr lang="en-US" dirty="0"/>
              <a:t>:</a:t>
            </a:r>
          </a:p>
          <a:p>
            <a:r>
              <a:rPr lang="en-US" b="1" dirty="0" err="1"/>
              <a:t>Prijem</a:t>
            </a:r>
            <a:r>
              <a:rPr lang="en-US" b="1" dirty="0"/>
              <a:t> i </a:t>
            </a:r>
            <a:r>
              <a:rPr lang="en-US" b="1" dirty="0" err="1"/>
              <a:t>evidencija</a:t>
            </a:r>
            <a:r>
              <a:rPr lang="en-US" b="1" dirty="0"/>
              <a:t>:</a:t>
            </a:r>
            <a:r>
              <a:rPr lang="en-US" dirty="0"/>
              <a:t> </a:t>
            </a:r>
            <a:r>
              <a:rPr lang="en-US" dirty="0" err="1"/>
              <a:t>Unošenje</a:t>
            </a:r>
            <a:r>
              <a:rPr lang="en-US" dirty="0"/>
              <a:t> </a:t>
            </a:r>
            <a:r>
              <a:rPr lang="en-US" dirty="0" err="1"/>
              <a:t>nove</a:t>
            </a:r>
            <a:r>
              <a:rPr lang="en-US" dirty="0"/>
              <a:t> </a:t>
            </a:r>
            <a:r>
              <a:rPr lang="en-US" dirty="0" err="1"/>
              <a:t>kolekcije</a:t>
            </a:r>
            <a:r>
              <a:rPr lang="en-US" dirty="0"/>
              <a:t> od </a:t>
            </a:r>
            <a:r>
              <a:rPr lang="en-US" dirty="0" err="1"/>
              <a:t>dobavljača</a:t>
            </a:r>
            <a:r>
              <a:rPr lang="en-US" dirty="0"/>
              <a:t> (Nike, Adidas...) u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putem</a:t>
            </a:r>
            <a:r>
              <a:rPr lang="en-US" dirty="0"/>
              <a:t> bar-</a:t>
            </a:r>
            <a:r>
              <a:rPr lang="en-US" dirty="0" err="1"/>
              <a:t>kod</a:t>
            </a:r>
            <a:r>
              <a:rPr lang="en-US" dirty="0"/>
              <a:t> </a:t>
            </a:r>
            <a:r>
              <a:rPr lang="en-US" dirty="0" err="1"/>
              <a:t>skenera</a:t>
            </a:r>
            <a:r>
              <a:rPr lang="en-US" dirty="0"/>
              <a:t>.</a:t>
            </a:r>
          </a:p>
          <a:p>
            <a:r>
              <a:rPr lang="en-US" b="1" dirty="0" err="1"/>
              <a:t>Skladištenje</a:t>
            </a:r>
            <a:r>
              <a:rPr lang="en-US" b="1" dirty="0"/>
              <a:t> i </a:t>
            </a:r>
            <a:r>
              <a:rPr lang="en-US" b="1" dirty="0" err="1"/>
              <a:t>pozicioniranje</a:t>
            </a:r>
            <a:r>
              <a:rPr lang="en-US" b="1" dirty="0"/>
              <a:t>:</a:t>
            </a:r>
            <a:r>
              <a:rPr lang="en-US" dirty="0"/>
              <a:t> </a:t>
            </a:r>
            <a:r>
              <a:rPr lang="en-US" dirty="0" err="1"/>
              <a:t>Odvajanje</a:t>
            </a:r>
            <a:r>
              <a:rPr lang="en-US" dirty="0"/>
              <a:t> </a:t>
            </a:r>
            <a:r>
              <a:rPr lang="en-US" dirty="0" err="1"/>
              <a:t>šta</a:t>
            </a:r>
            <a:r>
              <a:rPr lang="en-US" dirty="0"/>
              <a:t> ide u </a:t>
            </a:r>
            <a:r>
              <a:rPr lang="en-US" dirty="0" err="1"/>
              <a:t>magacin</a:t>
            </a:r>
            <a:r>
              <a:rPr lang="en-US" dirty="0"/>
              <a:t>, a </a:t>
            </a:r>
            <a:r>
              <a:rPr lang="en-US" dirty="0" err="1"/>
              <a:t>šta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rafove</a:t>
            </a:r>
            <a:r>
              <a:rPr lang="en-US" dirty="0"/>
              <a:t>.</a:t>
            </a:r>
          </a:p>
          <a:p>
            <a:r>
              <a:rPr lang="en-US" b="1" dirty="0" err="1"/>
              <a:t>Praćenje</a:t>
            </a:r>
            <a:r>
              <a:rPr lang="en-US" b="1" dirty="0"/>
              <a:t> </a:t>
            </a:r>
            <a:r>
              <a:rPr lang="en-US" b="1" dirty="0" err="1"/>
              <a:t>stanja</a:t>
            </a:r>
            <a:r>
              <a:rPr lang="en-US" b="1" dirty="0"/>
              <a:t> i </a:t>
            </a:r>
            <a:r>
              <a:rPr lang="en-US" b="1" dirty="0" err="1"/>
              <a:t>nivelacija</a:t>
            </a:r>
            <a:r>
              <a:rPr lang="en-US" b="1" dirty="0"/>
              <a:t>:</a:t>
            </a:r>
            <a:r>
              <a:rPr lang="en-US" dirty="0"/>
              <a:t> Real-time </a:t>
            </a:r>
            <a:r>
              <a:rPr lang="en-US" dirty="0" err="1"/>
              <a:t>presek</a:t>
            </a:r>
            <a:r>
              <a:rPr lang="en-US" dirty="0"/>
              <a:t> </a:t>
            </a:r>
            <a:r>
              <a:rPr lang="en-US" dirty="0" err="1"/>
              <a:t>stanja</a:t>
            </a:r>
            <a:r>
              <a:rPr lang="en-US" dirty="0"/>
              <a:t> i </a:t>
            </a:r>
            <a:r>
              <a:rPr lang="en-US" dirty="0" err="1"/>
              <a:t>redovni</a:t>
            </a:r>
            <a:r>
              <a:rPr lang="en-US" dirty="0"/>
              <a:t> </a:t>
            </a:r>
            <a:r>
              <a:rPr lang="en-US" dirty="0" err="1"/>
              <a:t>popisi</a:t>
            </a:r>
            <a:r>
              <a:rPr lang="en-US" dirty="0"/>
              <a:t>.</a:t>
            </a:r>
          </a:p>
          <a:p>
            <a:r>
              <a:rPr lang="en-US" b="1" dirty="0" err="1"/>
              <a:t>Izdavanje</a:t>
            </a:r>
            <a:r>
              <a:rPr lang="en-US" b="1" dirty="0"/>
              <a:t> robe:</a:t>
            </a:r>
            <a:r>
              <a:rPr lang="en-US" dirty="0"/>
              <a:t> </a:t>
            </a:r>
            <a:r>
              <a:rPr lang="en-US" dirty="0" err="1"/>
              <a:t>Skidanje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stanja</a:t>
            </a:r>
            <a:r>
              <a:rPr lang="en-US" dirty="0"/>
              <a:t> </a:t>
            </a:r>
            <a:r>
              <a:rPr lang="en-US" dirty="0" err="1"/>
              <a:t>prilikom</a:t>
            </a:r>
            <a:r>
              <a:rPr lang="en-US" dirty="0"/>
              <a:t> </a:t>
            </a:r>
            <a:r>
              <a:rPr lang="en-US" dirty="0" err="1"/>
              <a:t>prodaje</a:t>
            </a:r>
            <a:r>
              <a:rPr lang="en-US" dirty="0"/>
              <a:t> </a:t>
            </a:r>
            <a:r>
              <a:rPr lang="en-US" dirty="0" err="1"/>
              <a:t>kupcu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16258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2133600"/>
            <a:ext cx="8077200" cy="2667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556802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/>
              <a:t>Kontekstni</a:t>
            </a:r>
            <a:r>
              <a:rPr lang="en-US" dirty="0"/>
              <a:t> model </a:t>
            </a:r>
            <a:r>
              <a:rPr lang="en-US" dirty="0" err="1"/>
              <a:t>prodavnice</a:t>
            </a:r>
            <a:r>
              <a:rPr lang="en-US" dirty="0"/>
              <a:t> (IDEF0)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81200"/>
            <a:ext cx="7620000" cy="4800600"/>
          </a:xfrm>
        </p:spPr>
        <p:txBody>
          <a:bodyPr/>
          <a:lstStyle/>
          <a:p>
            <a:r>
              <a:rPr lang="vi-VN" dirty="0"/>
              <a:t>Prikazuje kako proces komunicira sa okruženjem:</a:t>
            </a:r>
          </a:p>
          <a:p>
            <a:r>
              <a:rPr lang="vi-VN" b="1" dirty="0"/>
              <a:t>Ulazi:</a:t>
            </a:r>
            <a:r>
              <a:rPr lang="vi-VN" dirty="0"/>
              <a:t> Nova roba od dobavljača, zahtevi za dopunu rafova.</a:t>
            </a:r>
          </a:p>
          <a:p>
            <a:r>
              <a:rPr lang="vi-VN" b="1" dirty="0"/>
              <a:t>Izlazi:</a:t>
            </a:r>
            <a:r>
              <a:rPr lang="vi-VN" dirty="0"/>
              <a:t> Izdati artikli (prodati), izveštaji o stanju magacina.</a:t>
            </a:r>
          </a:p>
          <a:p>
            <a:r>
              <a:rPr lang="vi-VN" b="1" dirty="0"/>
              <a:t>Kontrole:</a:t>
            </a:r>
            <a:r>
              <a:rPr lang="vi-VN" dirty="0"/>
              <a:t> Zakonske norme o popisu, interna pravila o maksimalnom kapacitetu magacina.</a:t>
            </a:r>
          </a:p>
          <a:p>
            <a:r>
              <a:rPr lang="vi-VN" b="1" dirty="0"/>
              <a:t>Mehanizmi:</a:t>
            </a:r>
            <a:r>
              <a:rPr lang="vi-VN" dirty="0"/>
              <a:t> IS za zalihe (baza podataka), magacioneri/prodavci, bar-kod skeneri (PDA uređaji).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74937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524000"/>
            <a:ext cx="6515100" cy="40157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998063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/>
              <a:t>Tok</a:t>
            </a:r>
            <a:r>
              <a:rPr lang="en-US" dirty="0"/>
              <a:t> </a:t>
            </a:r>
            <a:r>
              <a:rPr lang="en-US" dirty="0" err="1"/>
              <a:t>procesa</a:t>
            </a:r>
            <a:r>
              <a:rPr lang="en-US" dirty="0"/>
              <a:t> </a:t>
            </a:r>
            <a:r>
              <a:rPr lang="en-US" dirty="0" err="1"/>
              <a:t>prijema</a:t>
            </a:r>
            <a:r>
              <a:rPr lang="en-US" dirty="0"/>
              <a:t> </a:t>
            </a:r>
            <a:r>
              <a:rPr lang="en-US" dirty="0" err="1"/>
              <a:t>nove</a:t>
            </a:r>
            <a:r>
              <a:rPr lang="en-US" dirty="0"/>
              <a:t> </a:t>
            </a:r>
            <a:r>
              <a:rPr lang="en-US" dirty="0" err="1"/>
              <a:t>kolekcije</a:t>
            </a:r>
            <a:r>
              <a:rPr lang="en-US" dirty="0"/>
              <a:t> (IDEF3)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05000"/>
            <a:ext cx="7620000" cy="4800600"/>
          </a:xfrm>
        </p:spPr>
        <p:txBody>
          <a:bodyPr/>
          <a:lstStyle/>
          <a:p>
            <a:r>
              <a:rPr lang="vi-VN" dirty="0"/>
              <a:t>Prikazuje operativni scenario kada stigne kamion sa novom sportskom opremom:</a:t>
            </a:r>
          </a:p>
          <a:p>
            <a:r>
              <a:rPr lang="vi-VN" dirty="0"/>
              <a:t>Vrši se istovar i skeniranje prijemnice.</a:t>
            </a:r>
          </a:p>
          <a:p>
            <a:r>
              <a:rPr lang="vi-VN" dirty="0"/>
              <a:t>Fizičko skeniranje bar-kodova na kutijama.</a:t>
            </a:r>
          </a:p>
          <a:p>
            <a:r>
              <a:rPr lang="vi-VN" dirty="0"/>
              <a:t>Sistem upoređuje naručeno sa pristiglim stanjem – </a:t>
            </a:r>
            <a:r>
              <a:rPr lang="vi-VN" b="1" dirty="0"/>
              <a:t>ODLUKA (XOR)</a:t>
            </a:r>
            <a:r>
              <a:rPr lang="vi-VN" dirty="0"/>
              <a:t>:</a:t>
            </a:r>
          </a:p>
          <a:p>
            <a:pPr lvl="1"/>
            <a:r>
              <a:rPr lang="vi-VN" b="1" dirty="0"/>
              <a:t>Opcija A (Usaglašeno):</a:t>
            </a:r>
            <a:r>
              <a:rPr lang="vi-VN" dirty="0"/>
              <a:t> Roba se knjiži na stanje i štampaju se cene.</a:t>
            </a:r>
          </a:p>
          <a:p>
            <a:pPr lvl="1"/>
            <a:r>
              <a:rPr lang="vi-VN" b="1" dirty="0"/>
              <a:t>Opcija B (Neusaglašeno - Manjak/Višak):</a:t>
            </a:r>
            <a:r>
              <a:rPr lang="vi-VN" dirty="0"/>
              <a:t> Sistem blokira ulaz viška i kreira zapisnik za dobavljača.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18164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2743200"/>
            <a:ext cx="8305799" cy="16510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466941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/>
              <a:t>Analitika</a:t>
            </a:r>
            <a:r>
              <a:rPr lang="en-US" dirty="0"/>
              <a:t> i </a:t>
            </a:r>
            <a:r>
              <a:rPr lang="en-US" dirty="0" err="1"/>
              <a:t>izveštavanje</a:t>
            </a:r>
            <a:r>
              <a:rPr lang="en-US" dirty="0"/>
              <a:t> (Business Intelligence)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057400"/>
            <a:ext cx="7620000" cy="4800600"/>
          </a:xfrm>
        </p:spPr>
        <p:txBody>
          <a:bodyPr/>
          <a:lstStyle/>
          <a:p>
            <a:r>
              <a:rPr lang="vi-VN" dirty="0"/>
              <a:t>IS obezbeđuje poslovođi radnje i menadžmentu ključne podatke:</a:t>
            </a:r>
          </a:p>
          <a:p>
            <a:r>
              <a:rPr lang="vi-VN" b="1" dirty="0"/>
              <a:t>Obrt zaliha (Inventory Turnover):</a:t>
            </a:r>
            <a:r>
              <a:rPr lang="vi-VN" dirty="0"/>
              <a:t> Koji se modeli patika najbrže prodaju, a koji skupljaju prašinu.</a:t>
            </a:r>
          </a:p>
          <a:p>
            <a:r>
              <a:rPr lang="vi-VN" b="1" dirty="0"/>
              <a:t>Optimizacija veličina:</a:t>
            </a:r>
            <a:r>
              <a:rPr lang="vi-VN" dirty="0"/>
              <a:t> Sistem sam uči koje se veličine (npr. 42, 43, 44) najviše traže u toj specifičnoj prodavnici i automatski pojačava narudžbine za njih.</a:t>
            </a:r>
          </a:p>
          <a:p>
            <a:r>
              <a:rPr lang="vi-VN" b="1" dirty="0"/>
              <a:t>Sezonska nivelacija:</a:t>
            </a:r>
            <a:r>
              <a:rPr lang="vi-VN" dirty="0"/>
              <a:t> Priprema rasprodaja za artikle iz prethodne sezone.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65291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/>
              <a:t>Zaključak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057400"/>
            <a:ext cx="7620000" cy="4800600"/>
          </a:xfrm>
        </p:spPr>
        <p:txBody>
          <a:bodyPr/>
          <a:lstStyle/>
          <a:p>
            <a:r>
              <a:rPr lang="en-US" dirty="0" err="1"/>
              <a:t>Informacioni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za</a:t>
            </a:r>
            <a:r>
              <a:rPr lang="en-US" dirty="0"/>
              <a:t> </a:t>
            </a:r>
            <a:r>
              <a:rPr lang="en-US" dirty="0" err="1"/>
              <a:t>zalihe</a:t>
            </a:r>
            <a:r>
              <a:rPr lang="en-US" dirty="0"/>
              <a:t> </a:t>
            </a:r>
            <a:r>
              <a:rPr lang="en-US" dirty="0" err="1"/>
              <a:t>direktno</a:t>
            </a:r>
            <a:r>
              <a:rPr lang="en-US" dirty="0"/>
              <a:t> </a:t>
            </a:r>
            <a:r>
              <a:rPr lang="en-US" dirty="0" err="1"/>
              <a:t>povećava</a:t>
            </a:r>
            <a:r>
              <a:rPr lang="en-US" dirty="0"/>
              <a:t> profit </a:t>
            </a:r>
            <a:r>
              <a:rPr lang="en-US" dirty="0" err="1"/>
              <a:t>prodavnice</a:t>
            </a:r>
            <a:r>
              <a:rPr lang="en-US" dirty="0"/>
              <a:t> </a:t>
            </a:r>
            <a:r>
              <a:rPr lang="en-US" dirty="0" err="1"/>
              <a:t>sportske</a:t>
            </a:r>
            <a:r>
              <a:rPr lang="en-US" dirty="0"/>
              <a:t> </a:t>
            </a:r>
            <a:r>
              <a:rPr lang="en-US" dirty="0" err="1"/>
              <a:t>opreme</a:t>
            </a:r>
            <a:r>
              <a:rPr lang="en-US" dirty="0"/>
              <a:t>.</a:t>
            </a:r>
          </a:p>
          <a:p>
            <a:r>
              <a:rPr lang="en-US" dirty="0" err="1"/>
              <a:t>Sprečava</a:t>
            </a:r>
            <a:r>
              <a:rPr lang="en-US" dirty="0"/>
              <a:t> </a:t>
            </a:r>
            <a:r>
              <a:rPr lang="en-US" dirty="0" err="1"/>
              <a:t>zarobljavanje</a:t>
            </a:r>
            <a:r>
              <a:rPr lang="en-US" dirty="0"/>
              <a:t> </a:t>
            </a:r>
            <a:r>
              <a:rPr lang="en-US" dirty="0" err="1"/>
              <a:t>kapitala</a:t>
            </a:r>
            <a:r>
              <a:rPr lang="en-US" dirty="0"/>
              <a:t> u </a:t>
            </a:r>
            <a:r>
              <a:rPr lang="en-US" dirty="0" err="1"/>
              <a:t>robi</a:t>
            </a:r>
            <a:r>
              <a:rPr lang="en-US" dirty="0"/>
              <a:t> </a:t>
            </a:r>
            <a:r>
              <a:rPr lang="en-US" dirty="0" err="1"/>
              <a:t>koja</a:t>
            </a:r>
            <a:r>
              <a:rPr lang="en-US" dirty="0"/>
              <a:t> se ne </a:t>
            </a:r>
            <a:r>
              <a:rPr lang="en-US" dirty="0" err="1"/>
              <a:t>prodaje</a:t>
            </a:r>
            <a:r>
              <a:rPr lang="en-US" dirty="0"/>
              <a:t> (</a:t>
            </a:r>
            <a:r>
              <a:rPr lang="en-US" dirty="0" err="1"/>
              <a:t>tzv</a:t>
            </a:r>
            <a:r>
              <a:rPr lang="en-US" dirty="0"/>
              <a:t>. "</a:t>
            </a:r>
            <a:r>
              <a:rPr lang="en-US" dirty="0" err="1"/>
              <a:t>mrtve</a:t>
            </a:r>
            <a:r>
              <a:rPr lang="en-US" dirty="0"/>
              <a:t> </a:t>
            </a:r>
            <a:r>
              <a:rPr lang="en-US" dirty="0" err="1"/>
              <a:t>zalihe</a:t>
            </a:r>
            <a:r>
              <a:rPr lang="en-US" dirty="0"/>
              <a:t>").</a:t>
            </a:r>
          </a:p>
          <a:p>
            <a:r>
              <a:rPr lang="en-US" dirty="0" err="1"/>
              <a:t>Omogućava</a:t>
            </a:r>
            <a:r>
              <a:rPr lang="en-US" dirty="0"/>
              <a:t> </a:t>
            </a:r>
            <a:r>
              <a:rPr lang="en-US" dirty="0" err="1"/>
              <a:t>prodavcima</a:t>
            </a:r>
            <a:r>
              <a:rPr lang="en-US" dirty="0"/>
              <a:t> da se </a:t>
            </a:r>
            <a:r>
              <a:rPr lang="en-US" dirty="0" err="1"/>
              <a:t>fokusiraju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kupca</a:t>
            </a:r>
            <a:r>
              <a:rPr lang="en-US" dirty="0"/>
              <a:t>, </a:t>
            </a:r>
            <a:r>
              <a:rPr lang="en-US" dirty="0" err="1"/>
              <a:t>umesto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traženje</a:t>
            </a:r>
            <a:r>
              <a:rPr lang="en-US" dirty="0"/>
              <a:t> robe </a:t>
            </a:r>
            <a:r>
              <a:rPr lang="en-US" dirty="0" err="1"/>
              <a:t>po</a:t>
            </a:r>
            <a:r>
              <a:rPr lang="en-US" dirty="0"/>
              <a:t> </a:t>
            </a:r>
            <a:r>
              <a:rPr lang="en-US" dirty="0" err="1"/>
              <a:t>magacinu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094272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djacency">
  <a:themeElements>
    <a:clrScheme name="Adjacency">
      <a:dk1>
        <a:srgbClr val="2F2B20"/>
      </a:dk1>
      <a:lt1>
        <a:srgbClr val="FFFFFF"/>
      </a:lt1>
      <a:dk2>
        <a:srgbClr val="675E47"/>
      </a:dk2>
      <a:lt2>
        <a:srgbClr val="DFDCB7"/>
      </a:lt2>
      <a:accent1>
        <a:srgbClr val="A9A57C"/>
      </a:accent1>
      <a:accent2>
        <a:srgbClr val="9CBEBD"/>
      </a:accent2>
      <a:accent3>
        <a:srgbClr val="D2CB6C"/>
      </a:accent3>
      <a:accent4>
        <a:srgbClr val="95A39D"/>
      </a:accent4>
      <a:accent5>
        <a:srgbClr val="C89F5D"/>
      </a:accent5>
      <a:accent6>
        <a:srgbClr val="B1A089"/>
      </a:accent6>
      <a:hlink>
        <a:srgbClr val="D25814"/>
      </a:hlink>
      <a:folHlink>
        <a:srgbClr val="849A0A"/>
      </a:folHlink>
    </a:clrScheme>
    <a:fontScheme name="Office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djacency">
      <a:fillStyleLst>
        <a:solidFill>
          <a:schemeClr val="phClr"/>
        </a:solidFill>
        <a:solidFill>
          <a:schemeClr val="phClr">
            <a:tint val="55000"/>
          </a:schemeClr>
        </a:solidFill>
        <a:solidFill>
          <a:schemeClr val="phClr"/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algn="bl" rotWithShape="0">
              <a:srgbClr val="000000">
                <a:alpha val="60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brightRoom" dir="tl">
              <a:rot lat="0" lon="0" rev="1800000"/>
            </a:lightRig>
          </a:scene3d>
          <a:sp3d contourW="10160" prstMaterial="dkEdge">
            <a:bevelT w="38100" h="50800" prst="angle"/>
            <a:contourClr>
              <a:schemeClr val="phClr">
                <a:shade val="4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75000">
              <a:schemeClr val="phClr">
                <a:shade val="100000"/>
                <a:satMod val="115000"/>
              </a:schemeClr>
            </a:gs>
            <a:gs pos="100000">
              <a:schemeClr val="phClr">
                <a:shade val="70000"/>
                <a:satMod val="130000"/>
              </a:schemeClr>
            </a:gs>
          </a:gsLst>
          <a:path path="circle">
            <a:fillToRect l="20000" t="50000" r="10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7000"/>
              </a:schemeClr>
              <a:schemeClr val="phClr">
                <a:shade val="96000"/>
              </a:schemeClr>
            </a:duotone>
          </a:blip>
          <a:tile tx="0" ty="0" sx="32000" sy="32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Adjacency</Template>
  <TotalTime>17</TotalTime>
  <Words>425</Words>
  <Application>Microsoft Office PowerPoint</Application>
  <PresentationFormat>On-screen Show (4:3)</PresentationFormat>
  <Paragraphs>42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Adjacency</vt:lpstr>
      <vt:lpstr>Informacioni sistem za upravljanje zalihama proizvoda u sportskoj radnji</vt:lpstr>
      <vt:lpstr>Uloga IS za zalihe u sportskoj maloprodaji</vt:lpstr>
      <vt:lpstr>Hijerarhija procesa upravljanja zalihama (SSADT)</vt:lpstr>
      <vt:lpstr>PowerPoint Presentation</vt:lpstr>
      <vt:lpstr>Kontekstni model prodavnice (IDEF0)</vt:lpstr>
      <vt:lpstr>PowerPoint Presentation</vt:lpstr>
      <vt:lpstr>Tok procesa prijema nove kolekcije (IDEF3)</vt:lpstr>
      <vt:lpstr>PowerPoint Presentation</vt:lpstr>
      <vt:lpstr>Analitika i izveštavanje (Business Intelligence)</vt:lpstr>
      <vt:lpstr>Zaključak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Informacioni sistem za upravljanje zalihama proizvoda u sportskoj radnji</dc:title>
  <dc:creator>pc</dc:creator>
  <cp:lastModifiedBy>pc</cp:lastModifiedBy>
  <cp:revision>2</cp:revision>
  <dcterms:created xsi:type="dcterms:W3CDTF">2026-04-08T17:11:27Z</dcterms:created>
  <dcterms:modified xsi:type="dcterms:W3CDTF">2026-04-08T17:28:53Z</dcterms:modified>
</cp:coreProperties>
</file>